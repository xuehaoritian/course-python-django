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14" r:id="rId1"/>
  </p:sldMasterIdLst>
  <p:notesMasterIdLst>
    <p:notesMasterId r:id="rId47"/>
  </p:notesMasterIdLst>
  <p:sldIdLst>
    <p:sldId id="292" r:id="rId2"/>
    <p:sldId id="293" r:id="rId3"/>
    <p:sldId id="294" r:id="rId4"/>
    <p:sldId id="295" r:id="rId5"/>
    <p:sldId id="316" r:id="rId6"/>
    <p:sldId id="317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18" r:id="rId17"/>
    <p:sldId id="319" r:id="rId18"/>
    <p:sldId id="320" r:id="rId19"/>
    <p:sldId id="321" r:id="rId20"/>
    <p:sldId id="305" r:id="rId21"/>
    <p:sldId id="307" r:id="rId22"/>
    <p:sldId id="306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36" r:id="rId32"/>
    <p:sldId id="322" r:id="rId33"/>
    <p:sldId id="323" r:id="rId34"/>
    <p:sldId id="324" r:id="rId35"/>
    <p:sldId id="326" r:id="rId36"/>
    <p:sldId id="325" r:id="rId37"/>
    <p:sldId id="327" r:id="rId38"/>
    <p:sldId id="328" r:id="rId39"/>
    <p:sldId id="329" r:id="rId40"/>
    <p:sldId id="330" r:id="rId41"/>
    <p:sldId id="279" r:id="rId42"/>
    <p:sldId id="335" r:id="rId43"/>
    <p:sldId id="332" r:id="rId44"/>
    <p:sldId id="333" r:id="rId45"/>
    <p:sldId id="334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8603FDC-E32A-4AB5-989C-0864C3EAD2B8}" styleName="主题样式 2 - 个性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主题样式 1 - 个性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18"/>
    <p:restoredTop sz="94745"/>
  </p:normalViewPr>
  <p:slideViewPr>
    <p:cSldViewPr snapToGrid="0" snapToObjects="1">
      <p:cViewPr>
        <p:scale>
          <a:sx n="101" d="100"/>
          <a:sy n="101" d="100"/>
        </p:scale>
        <p:origin x="912" y="216"/>
      </p:cViewPr>
      <p:guideLst/>
    </p:cSldViewPr>
  </p:slideViewPr>
  <p:outlineViewPr>
    <p:cViewPr>
      <p:scale>
        <a:sx n="33" d="100"/>
        <a:sy n="33" d="100"/>
      </p:scale>
      <p:origin x="0" y="-56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2AD5B-95D3-8042-8A92-CBF9F7B085A5}" type="datetimeFigureOut">
              <a:rPr kumimoji="1" lang="zh-CN" altLang="en-US" smtClean="0"/>
              <a:t>2017/10/9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FB215-AED3-8749-8534-FCE2280EAD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1803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10/9/17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10/9/17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4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5" r:id="rId1"/>
    <p:sldLayoutId id="2147484716" r:id="rId2"/>
    <p:sldLayoutId id="2147484717" r:id="rId3"/>
    <p:sldLayoutId id="2147484718" r:id="rId4"/>
    <p:sldLayoutId id="2147484719" r:id="rId5"/>
    <p:sldLayoutId id="2147484720" r:id="rId6"/>
    <p:sldLayoutId id="2147484721" r:id="rId7"/>
    <p:sldLayoutId id="2147484722" r:id="rId8"/>
    <p:sldLayoutId id="2147484723" r:id="rId9"/>
    <p:sldLayoutId id="2147484724" r:id="rId10"/>
    <p:sldLayoutId id="2147484725" r:id="rId11"/>
    <p:sldLayoutId id="2147484726" r:id="rId12"/>
    <p:sldLayoutId id="2147484727" r:id="rId13"/>
    <p:sldLayoutId id="2147484728" r:id="rId14"/>
    <p:sldLayoutId id="2147484729" r:id="rId15"/>
    <p:sldLayoutId id="2147484730" r:id="rId16"/>
    <p:sldLayoutId id="2147484731" r:id="rId17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Python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Function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006159" y="6337301"/>
            <a:ext cx="1137841" cy="520699"/>
          </a:xfrm>
        </p:spPr>
        <p:txBody>
          <a:bodyPr/>
          <a:lstStyle/>
          <a:p>
            <a:r>
              <a:rPr kumimoji="1" lang="zh-CN" altLang="en-US" dirty="0" smtClean="0"/>
              <a:t>江琳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63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</a:t>
            </a:r>
            <a:r>
              <a:rPr kumimoji="1" lang="en-US" altLang="zh-CN" dirty="0" smtClean="0"/>
              <a:t>hilosophy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1866900"/>
            <a:ext cx="7772870" cy="4140200"/>
          </a:xfrm>
        </p:spPr>
        <p:txBody>
          <a:bodyPr/>
          <a:lstStyle/>
          <a:p>
            <a:r>
              <a:rPr lang="en-US" altLang="zh-CN" dirty="0"/>
              <a:t>A function is a block of organized, reusable code that is used to </a:t>
            </a:r>
            <a:r>
              <a:rPr lang="en-US" altLang="zh-CN" dirty="0" smtClean="0"/>
              <a:t>perform </a:t>
            </a:r>
            <a:r>
              <a:rPr lang="en-US" altLang="zh-CN" dirty="0"/>
              <a:t>a single, related action. </a:t>
            </a:r>
            <a:endParaRPr lang="en-US" altLang="zh-CN" dirty="0" smtClean="0"/>
          </a:p>
          <a:p>
            <a:r>
              <a:rPr lang="en-US" altLang="zh-CN" dirty="0"/>
              <a:t>They allow you to give a name to a block of statements and you can run that block using that name anywhere in your program and any number of times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We have already used many built-in functions such as the </a:t>
            </a:r>
            <a:r>
              <a:rPr lang="en-US" altLang="zh-CN" dirty="0" smtClean="0"/>
              <a:t>print(),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len</a:t>
            </a:r>
            <a:r>
              <a:rPr lang="en-US" altLang="zh-CN" dirty="0" smtClean="0"/>
              <a:t>()</a:t>
            </a:r>
            <a:r>
              <a:rPr lang="en-US" altLang="zh-CN" dirty="0"/>
              <a:t> and </a:t>
            </a:r>
            <a:r>
              <a:rPr lang="en-US" altLang="zh-CN" dirty="0" smtClean="0"/>
              <a:t>range().</a:t>
            </a:r>
            <a:r>
              <a:rPr lang="en-US" altLang="zh-CN" dirty="0"/>
              <a:t/>
            </a:r>
            <a:br>
              <a:rPr lang="en-US" altLang="zh-CN" dirty="0"/>
            </a:b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7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Defining a function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731707"/>
          </a:xfrm>
        </p:spPr>
        <p:txBody>
          <a:bodyPr/>
          <a:lstStyle/>
          <a:p>
            <a:r>
              <a:rPr kumimoji="1" lang="en-US" altLang="zh-CN" dirty="0" smtClean="0"/>
              <a:t>Syntax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7100" y="3098800"/>
            <a:ext cx="7531100" cy="14305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functionname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parameters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function_suite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expression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96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Example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2" y="2214695"/>
            <a:ext cx="7773338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current_date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date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now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strftime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"%Y/%m/%d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					%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H:%M:%S"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return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date</a:t>
            </a:r>
          </a:p>
          <a:p>
            <a:pPr>
              <a:lnSpc>
                <a:spcPct val="150000"/>
              </a:lnSpc>
            </a:pP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calling the function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current_date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48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i="1" dirty="0" smtClean="0"/>
              <a:t>return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statement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2281107"/>
          </a:xfrm>
        </p:spPr>
        <p:txBody>
          <a:bodyPr/>
          <a:lstStyle/>
          <a:p>
            <a:r>
              <a:rPr kumimoji="1" lang="en-US" altLang="zh-CN" dirty="0"/>
              <a:t>The statement </a:t>
            </a:r>
            <a:r>
              <a:rPr kumimoji="1" lang="en-US" altLang="zh-CN" dirty="0">
                <a:solidFill>
                  <a:srgbClr val="0070C0"/>
                </a:solidFill>
              </a:rPr>
              <a:t>return [expression] </a:t>
            </a:r>
            <a:r>
              <a:rPr kumimoji="1" lang="en-US" altLang="zh-CN" dirty="0"/>
              <a:t>exits a function, optionally passing back an expression to the caller. A return statement with no arguments is the same as return None.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4775200"/>
            <a:ext cx="7772870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mr-IN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add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x</a:t>
            </a: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 err="1" smtClean="0">
                <a:latin typeface="Courier" charset="0"/>
                <a:ea typeface="Courier" charset="0"/>
                <a:cs typeface="Courier" charset="0"/>
              </a:rPr>
              <a:t>y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x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+ </a:t>
            </a: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y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 err="1">
                <a:latin typeface="Courier" charset="0"/>
                <a:ea typeface="Courier" charset="0"/>
                <a:cs typeface="Courier" charset="0"/>
              </a:rPr>
              <a:t>add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28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i="1" dirty="0"/>
              <a:t>return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statement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706307"/>
          </a:xfrm>
        </p:spPr>
        <p:txBody>
          <a:bodyPr/>
          <a:lstStyle/>
          <a:p>
            <a:r>
              <a:rPr kumimoji="1" lang="en-US" altLang="zh-CN" dirty="0" smtClean="0"/>
              <a:t>Can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return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multiple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values?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225798"/>
            <a:ext cx="777287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mr-IN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fo</a:t>
            </a: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 err="1" smtClean="0">
                <a:latin typeface="Courier" charset="0"/>
                <a:ea typeface="Courier" charset="0"/>
                <a:cs typeface="Courier" charset="0"/>
              </a:rPr>
              <a:t>x,y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2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mr-IN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x+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, y+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b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/>
            </a:r>
            <a:b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2000" b="1" dirty="0" err="1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fo</a:t>
            </a:r>
            <a:r>
              <a:rPr lang="mr-IN" altLang="zh-CN" sz="2000" b="1" dirty="0" smtClean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mr-IN" altLang="zh-CN" sz="2000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mr-IN" altLang="zh-CN" sz="2000" b="1" dirty="0">
                <a:latin typeface="Courier" charset="0"/>
                <a:ea typeface="Courier" charset="0"/>
                <a:cs typeface="Courier" charset="0"/>
              </a:rPr>
              <a:t>))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71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Function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 dirty="0" smtClean="0"/>
              <a:t>Required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</a:p>
          <a:p>
            <a:r>
              <a:rPr kumimoji="1" lang="en-US" altLang="zh-CN" dirty="0" smtClean="0"/>
              <a:t>Keyword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</a:p>
          <a:p>
            <a:r>
              <a:rPr kumimoji="1" lang="en-US" altLang="zh-CN" dirty="0" smtClean="0"/>
              <a:t>Default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</a:p>
          <a:p>
            <a:r>
              <a:rPr kumimoji="1" lang="en-US" altLang="zh-CN" dirty="0" smtClean="0"/>
              <a:t>Variable-length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321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Required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Required arguments are the arguments passed to a function in correct positional order.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635274"/>
            <a:ext cx="777287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age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'is'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18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80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Keyword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smtClean="0"/>
              <a:t>When </a:t>
            </a:r>
            <a:r>
              <a:rPr lang="en-US" altLang="zh-CN" dirty="0"/>
              <a:t>you use keyword arguments in a function call, the caller identifies the arguments by the parameter name</a:t>
            </a:r>
            <a:r>
              <a:rPr lang="en-US" altLang="zh-CN" b="0" dirty="0"/>
              <a:t>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542941"/>
            <a:ext cx="7772870" cy="24006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age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'is'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18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18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56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Default arguments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 default argument is an argument that assumes a default value if a value is not provided in the function call for that argument.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330" y="4187736"/>
            <a:ext cx="777287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age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'is'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68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Variable-length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4"/>
            <a:ext cx="7772870" cy="1824242"/>
          </a:xfrm>
        </p:spPr>
        <p:txBody>
          <a:bodyPr/>
          <a:lstStyle/>
          <a:p>
            <a:r>
              <a:rPr kumimoji="1" lang="en-US" altLang="zh-CN" dirty="0" smtClean="0"/>
              <a:t>Variable-length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not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named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function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definition.</a:t>
            </a:r>
          </a:p>
          <a:p>
            <a:r>
              <a:rPr kumimoji="1" lang="en-US" altLang="zh-CN" dirty="0" smtClean="0"/>
              <a:t>Syntax: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4343735"/>
            <a:ext cx="777287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functionname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arg1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*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args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**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function_suite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return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expression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0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Example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4800600"/>
            <a:ext cx="7772870" cy="1206500"/>
          </a:xfrm>
        </p:spPr>
        <p:txBody>
          <a:bodyPr/>
          <a:lstStyle/>
          <a:p>
            <a:r>
              <a:rPr kumimoji="1" lang="en-US" altLang="zh-CN" dirty="0" smtClean="0"/>
              <a:t>*</a:t>
            </a:r>
            <a:r>
              <a:rPr kumimoji="1" lang="en-US" altLang="zh-CN" dirty="0" err="1" smtClean="0"/>
              <a:t>args</a:t>
            </a:r>
            <a:r>
              <a:rPr kumimoji="1" lang="en-US" altLang="zh-CN" dirty="0" smtClean="0"/>
              <a:t> is tuple that holds </a:t>
            </a:r>
            <a:r>
              <a:rPr kumimoji="1" lang="en-US" altLang="zh-CN" dirty="0" smtClean="0"/>
              <a:t>all </a:t>
            </a:r>
            <a:r>
              <a:rPr kumimoji="1" lang="en-US" altLang="zh-CN" dirty="0"/>
              <a:t>collection of </a:t>
            </a:r>
            <a:r>
              <a:rPr kumimoji="1" lang="en-US" altLang="zh-CN" dirty="0" err="1" smtClean="0"/>
              <a:t>nonkeyword</a:t>
            </a:r>
            <a:r>
              <a:rPr kumimoji="1" lang="en-US" altLang="zh-CN" dirty="0" smtClean="0"/>
              <a:t> arguments.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330" y="2214695"/>
            <a:ext cx="7772870" cy="23538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printParams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data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*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args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'data:'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data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args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:'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args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printParams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40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91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4394200"/>
            <a:ext cx="7772870" cy="1397000"/>
          </a:xfrm>
        </p:spPr>
        <p:txBody>
          <a:bodyPr/>
          <a:lstStyle/>
          <a:p>
            <a:r>
              <a:rPr kumimoji="1" lang="en-US" altLang="zh-CN" dirty="0" smtClean="0"/>
              <a:t>**</a:t>
            </a:r>
            <a:r>
              <a:rPr kumimoji="1" lang="en-US" altLang="zh-CN" dirty="0" err="1" smtClean="0"/>
              <a:t>kwargs</a:t>
            </a:r>
            <a:r>
              <a:rPr kumimoji="1" lang="en-US" altLang="zh-CN" dirty="0" smtClean="0"/>
              <a:t> is dictionary that hold a collection of keyword arguments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2381117"/>
            <a:ext cx="7772870" cy="18921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printParams2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(**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:'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printParams2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x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z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3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50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Python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Classes/instances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006159" y="6337301"/>
            <a:ext cx="1137841" cy="520699"/>
          </a:xfrm>
        </p:spPr>
        <p:txBody>
          <a:bodyPr/>
          <a:lstStyle/>
          <a:p>
            <a:r>
              <a:rPr kumimoji="1" lang="zh-CN" altLang="en-US" dirty="0" smtClean="0"/>
              <a:t>江琳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506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</a:t>
            </a:r>
            <a:r>
              <a:rPr kumimoji="1" lang="en-US" altLang="zh-CN" dirty="0" smtClean="0"/>
              <a:t>hilosophy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1866900"/>
            <a:ext cx="7772870" cy="4140200"/>
          </a:xfrm>
        </p:spPr>
        <p:txBody>
          <a:bodyPr/>
          <a:lstStyle/>
          <a:p>
            <a:r>
              <a:rPr lang="en-US" altLang="zh-CN" dirty="0"/>
              <a:t>Python has been an object-oriented language since it existed. Because of this, creating and using classes and objects are downright easy. </a:t>
            </a:r>
            <a:br>
              <a:rPr lang="en-US" altLang="zh-CN" dirty="0"/>
            </a:b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289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class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3340101"/>
            <a:ext cx="7772870" cy="2451100"/>
          </a:xfrm>
        </p:spPr>
        <p:txBody>
          <a:bodyPr/>
          <a:lstStyle/>
          <a:p>
            <a:r>
              <a:rPr kumimoji="1" lang="en-US" altLang="zh-CN" dirty="0" smtClean="0"/>
              <a:t>Class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keyword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define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2214695"/>
            <a:ext cx="7772870" cy="9688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Employee: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pass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4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Creating instances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2367093"/>
            <a:ext cx="777287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creating instances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Employee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40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4749800"/>
            <a:ext cx="7772870" cy="1041400"/>
          </a:xfrm>
        </p:spPr>
        <p:txBody>
          <a:bodyPr/>
          <a:lstStyle/>
          <a:p>
            <a:r>
              <a:rPr kumimoji="1" lang="en-US" altLang="zh-CN" dirty="0" smtClean="0"/>
              <a:t>Passing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two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arguments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instance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2413338"/>
            <a:ext cx="7772870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__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init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__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salary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name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salary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salary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'Nancy'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5000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56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function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1201607"/>
          </a:xfrm>
        </p:spPr>
        <p:txBody>
          <a:bodyPr/>
          <a:lstStyle/>
          <a:p>
            <a:r>
              <a:rPr kumimoji="1" lang="en-US" altLang="zh-CN" dirty="0" smtClean="0"/>
              <a:t>Let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function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Employee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used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print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name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salary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568700"/>
            <a:ext cx="7772870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employee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__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init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__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name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salary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name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salary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salary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display_employee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'name: 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'salary: 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salary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emp1 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employee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'Nancy'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5000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emp1</a:t>
            </a:r>
            <a:r>
              <a:rPr lang="en-US" altLang="zh-CN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display_employee</a:t>
            </a:r>
            <a:r>
              <a:rPr lang="en-US" altLang="zh-CN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97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330" y="618518"/>
            <a:ext cx="7773338" cy="1596177"/>
          </a:xfrm>
        </p:spPr>
        <p:txBody>
          <a:bodyPr/>
          <a:lstStyle/>
          <a:p>
            <a:r>
              <a:rPr kumimoji="1" lang="en-US" altLang="zh-CN" dirty="0" smtClean="0"/>
              <a:t>Creating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330" y="2206890"/>
            <a:ext cx="7772870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class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count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0</a:t>
            </a: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__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init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__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salary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name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salary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salary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employee</a:t>
            </a:r>
            <a:r>
              <a:rPr lang="en-US" altLang="zh-CN" sz="2000" b="1" dirty="0" err="1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count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+=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display_count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'Total employee: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employee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count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'salary: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salary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26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Creating instances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330" y="2367093"/>
            <a:ext cx="7772870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creating instances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'Nancy'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5000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emp2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'Jessica'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6000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accessing attributes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display_count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display_employee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emp2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display_count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87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Creating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4122607"/>
          </a:xfrm>
        </p:spPr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variable</a:t>
            </a:r>
            <a:r>
              <a:rPr kumimoji="1" lang="zh-CN" altLang="en-US" dirty="0" smtClean="0"/>
              <a:t> </a:t>
            </a:r>
            <a:r>
              <a:rPr kumimoji="1" lang="en-US" altLang="zh-CN" i="1" dirty="0" smtClean="0"/>
              <a:t>count</a:t>
            </a:r>
            <a:r>
              <a:rPr kumimoji="1" lang="zh-CN" altLang="en-US" i="1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variable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whose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value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shared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among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all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instances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class</a:t>
            </a:r>
          </a:p>
          <a:p>
            <a:r>
              <a:rPr kumimoji="1" lang="en-US" altLang="zh-CN" i="1" dirty="0" smtClean="0"/>
              <a:t>__</a:t>
            </a:r>
            <a:r>
              <a:rPr kumimoji="1" lang="en-US" altLang="zh-CN" i="1" dirty="0" err="1" smtClean="0"/>
              <a:t>init</a:t>
            </a:r>
            <a:r>
              <a:rPr kumimoji="1" lang="en-US" altLang="zh-CN" i="1" dirty="0" smtClean="0"/>
              <a:t>__()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constructor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initialization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method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Python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calls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new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instance.</a:t>
            </a:r>
          </a:p>
          <a:p>
            <a:r>
              <a:rPr lang="en-US" altLang="zh-CN" dirty="0"/>
              <a:t>You declare other class methods like normal functions with the exception that the first argument to each method is </a:t>
            </a:r>
            <a:r>
              <a:rPr lang="en-US" altLang="zh-CN" i="1" dirty="0"/>
              <a:t>self</a:t>
            </a:r>
            <a:r>
              <a:rPr lang="en-US" altLang="zh-CN" dirty="0"/>
              <a:t>. 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98584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Python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Modules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006159" y="6337301"/>
            <a:ext cx="1137841" cy="520699"/>
          </a:xfrm>
        </p:spPr>
        <p:txBody>
          <a:bodyPr/>
          <a:lstStyle/>
          <a:p>
            <a:r>
              <a:rPr kumimoji="1" lang="zh-CN" altLang="en-US" dirty="0" smtClean="0"/>
              <a:t>江琳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985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Philosophy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 module allows you to logically organize your Python code. Grouping related code into a module makes the code easier to understand and use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Simply, a module is a file consisting of Python code. A module can define functions, classes and variables. A module can also include runnable code.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352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Creating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module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name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current.py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330" y="3179895"/>
            <a:ext cx="7773338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endParaRPr lang="en-US" altLang="zh-CN" sz="2000" b="1" dirty="0" smtClean="0">
              <a:solidFill>
                <a:srgbClr val="00000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current_date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date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now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strftime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"%Y/%m/%d 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 					%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H:%M:%S"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return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date</a:t>
            </a:r>
          </a:p>
        </p:txBody>
      </p:sp>
    </p:spTree>
    <p:extLst>
      <p:ext uri="{BB962C8B-B14F-4D97-AF65-F5344CB8AC3E}">
        <p14:creationId xmlns:p14="http://schemas.microsoft.com/office/powerpoint/2010/main" val="113433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i="1" dirty="0" smtClean="0"/>
              <a:t>import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statement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 module can be </a:t>
            </a:r>
            <a:r>
              <a:rPr lang="en-US" altLang="zh-CN" i="1" dirty="0"/>
              <a:t>imported</a:t>
            </a:r>
            <a:r>
              <a:rPr lang="en-US" altLang="zh-CN" dirty="0"/>
              <a:t> by another program to make use of its </a:t>
            </a:r>
            <a:r>
              <a:rPr lang="en-US" altLang="zh-CN" dirty="0" smtClean="0"/>
              <a:t>functionality.</a:t>
            </a:r>
          </a:p>
          <a:p>
            <a:r>
              <a:rPr kumimoji="1" lang="en-US" altLang="zh-CN" dirty="0" smtClean="0"/>
              <a:t>Open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terminal:</a:t>
            </a:r>
          </a:p>
          <a:p>
            <a:pPr lvl="1"/>
            <a:r>
              <a:rPr kumimoji="1" lang="en-US" altLang="zh-CN" dirty="0" smtClean="0"/>
              <a:t>cd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directory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store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current.py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4927935"/>
            <a:ext cx="777287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python</a:t>
            </a: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current</a:t>
            </a: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current.current.date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4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i="1" dirty="0" smtClean="0"/>
              <a:t>from</a:t>
            </a:r>
            <a:r>
              <a:rPr kumimoji="1" lang="zh-CN" altLang="en-US" i="1" dirty="0" smtClean="0"/>
              <a:t> </a:t>
            </a:r>
            <a:r>
              <a:rPr kumimoji="1" lang="mr-IN" altLang="zh-CN" i="1" dirty="0" smtClean="0"/>
              <a:t>…</a:t>
            </a:r>
            <a:r>
              <a:rPr kumimoji="1" lang="zh-CN" altLang="en-US" i="1" dirty="0" smtClean="0"/>
              <a:t> </a:t>
            </a:r>
            <a:r>
              <a:rPr kumimoji="1" lang="en-US" altLang="zh-CN" i="1" dirty="0" smtClean="0"/>
              <a:t>import</a:t>
            </a:r>
            <a:r>
              <a:rPr kumimoji="1" lang="zh-CN" altLang="en-US" i="1" dirty="0" smtClean="0"/>
              <a:t> </a:t>
            </a:r>
            <a:r>
              <a:rPr kumimoji="1" lang="en-US" altLang="zh-CN" dirty="0" smtClean="0"/>
              <a:t>statement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Python's </a:t>
            </a:r>
            <a:r>
              <a:rPr lang="en-US" altLang="zh-CN" i="1" dirty="0"/>
              <a:t>from</a:t>
            </a:r>
            <a:r>
              <a:rPr lang="en-US" altLang="zh-CN" dirty="0"/>
              <a:t> statement lets you import specific attributes from a module into the current namespace.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772235"/>
            <a:ext cx="777287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python</a:t>
            </a: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from</a:t>
            </a:r>
            <a:r>
              <a:rPr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current</a:t>
            </a:r>
            <a:r>
              <a:rPr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current_date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current.date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95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i="1" dirty="0" err="1" smtClean="0"/>
              <a:t>dir</a:t>
            </a:r>
            <a:r>
              <a:rPr kumimoji="1" lang="en-US" altLang="zh-CN" i="1" dirty="0" smtClean="0"/>
              <a:t>()</a:t>
            </a:r>
            <a:r>
              <a:rPr kumimoji="1" lang="zh-CN" altLang="en-US" i="1" dirty="0" smtClean="0"/>
              <a:t> </a:t>
            </a:r>
            <a:r>
              <a:rPr kumimoji="1" lang="en-US" altLang="zh-CN" dirty="0" smtClean="0"/>
              <a:t>function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The </a:t>
            </a:r>
            <a:r>
              <a:rPr lang="en-US" altLang="zh-CN" dirty="0" err="1"/>
              <a:t>dir</a:t>
            </a:r>
            <a:r>
              <a:rPr lang="en-US" altLang="zh-CN" dirty="0"/>
              <a:t>() built-in function returns a sorted list of strings containing the names defined by a module.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797635"/>
            <a:ext cx="777287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python</a:t>
            </a: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current</a:t>
            </a: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dir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(current)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27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Build-in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modules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 module can be </a:t>
            </a:r>
            <a:r>
              <a:rPr lang="en-US" altLang="zh-CN" i="1" dirty="0"/>
              <a:t>imported</a:t>
            </a:r>
            <a:r>
              <a:rPr lang="en-US" altLang="zh-CN" dirty="0"/>
              <a:t> by another program to make use of its functionality. This is how we can use the Python standard library as well. </a:t>
            </a:r>
            <a:endParaRPr lang="en-US" altLang="zh-CN" dirty="0" smtClean="0"/>
          </a:p>
          <a:p>
            <a:r>
              <a:rPr lang="en-US" altLang="zh-CN" dirty="0" smtClean="0"/>
              <a:t>Now,</a:t>
            </a:r>
            <a:r>
              <a:rPr lang="zh-CN" altLang="en-US" dirty="0" smtClean="0"/>
              <a:t> </a:t>
            </a:r>
            <a:r>
              <a:rPr lang="en-US" altLang="zh-CN" dirty="0" smtClean="0"/>
              <a:t>we </a:t>
            </a:r>
            <a:r>
              <a:rPr lang="en-US" altLang="zh-CN" dirty="0"/>
              <a:t>will see how to use the standard library modules.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333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Build-in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modules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330" y="2551837"/>
            <a:ext cx="7772870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from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datetime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now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math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math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sin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import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uuid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uuid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uuid1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88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Python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</a:t>
            </a:r>
            <a:r>
              <a:rPr kumimoji="1" lang="zh-CN" altLang="en-US" dirty="0" smtClean="0"/>
              <a:t> </a:t>
            </a:r>
            <a:r>
              <a:rPr kumimoji="1" lang="en-US" altLang="zh-CN" smtClean="0"/>
              <a:t>I/O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006159" y="6337301"/>
            <a:ext cx="1137841" cy="520699"/>
          </a:xfrm>
        </p:spPr>
        <p:txBody>
          <a:bodyPr/>
          <a:lstStyle/>
          <a:p>
            <a:r>
              <a:rPr kumimoji="1" lang="zh-CN" altLang="en-US" dirty="0" smtClean="0"/>
              <a:t>江琳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428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File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I/O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 dirty="0"/>
              <a:t>Python provides basic functions and methods necessary to manipulate files by default. You can do most of the file manipulation using a file object.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319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zh-CN" dirty="0"/>
              <a:t>The </a:t>
            </a:r>
            <a:r>
              <a:rPr lang="nl-NL" altLang="zh-CN" i="1" dirty="0"/>
              <a:t>open</a:t>
            </a:r>
            <a:r>
              <a:rPr lang="nl-NL" altLang="zh-CN" dirty="0"/>
              <a:t> </a:t>
            </a:r>
            <a:r>
              <a:rPr lang="nl-NL" altLang="zh-CN" dirty="0" err="1" smtClean="0"/>
              <a:t>Function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1785807"/>
          </a:xfrm>
        </p:spPr>
        <p:txBody>
          <a:bodyPr/>
          <a:lstStyle/>
          <a:p>
            <a:r>
              <a:rPr kumimoji="1" lang="en-US" altLang="zh-CN" dirty="0"/>
              <a:t>Before you can read or write a file, you have to open it using </a:t>
            </a:r>
            <a:r>
              <a:rPr kumimoji="1" lang="en-US" altLang="zh-CN" dirty="0" smtClean="0"/>
              <a:t>Python‘s </a:t>
            </a:r>
            <a:r>
              <a:rPr kumimoji="1" lang="en-US" altLang="zh-CN" dirty="0"/>
              <a:t>built-in</a:t>
            </a:r>
            <a:r>
              <a:rPr kumimoji="1" lang="en-US" altLang="zh-CN" i="1" dirty="0"/>
              <a:t> open()</a:t>
            </a:r>
            <a:r>
              <a:rPr kumimoji="1" lang="en-US" altLang="zh-CN" dirty="0"/>
              <a:t> function. This function creates a file </a:t>
            </a:r>
            <a:r>
              <a:rPr kumimoji="1" lang="en-US" altLang="zh-CN" dirty="0" smtClean="0"/>
              <a:t>object.</a:t>
            </a:r>
          </a:p>
        </p:txBody>
      </p:sp>
      <p:sp>
        <p:nvSpPr>
          <p:cNvPr id="4" name="矩形 3"/>
          <p:cNvSpPr/>
          <p:nvPr/>
        </p:nvSpPr>
        <p:spPr>
          <a:xfrm>
            <a:off x="685330" y="4305298"/>
            <a:ext cx="806497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file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open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file_name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access_mode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,[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buffering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7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zh-CN" dirty="0"/>
              <a:t>The </a:t>
            </a:r>
            <a:r>
              <a:rPr lang="nl-NL" altLang="zh-CN" i="1" dirty="0"/>
              <a:t>open</a:t>
            </a:r>
            <a:r>
              <a:rPr lang="nl-NL" altLang="zh-CN" dirty="0"/>
              <a:t> </a:t>
            </a:r>
            <a:r>
              <a:rPr lang="nl-NL" altLang="zh-CN" dirty="0" err="1"/>
              <a:t>Function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 i="1" dirty="0" err="1"/>
              <a:t>file_name</a:t>
            </a:r>
            <a:r>
              <a:rPr kumimoji="1" lang="en-US" altLang="zh-CN" dirty="0"/>
              <a:t>: The </a:t>
            </a:r>
            <a:r>
              <a:rPr kumimoji="1" lang="en-US" altLang="zh-CN" dirty="0" err="1"/>
              <a:t>file_name</a:t>
            </a:r>
            <a:r>
              <a:rPr kumimoji="1" lang="en-US" altLang="zh-CN" dirty="0"/>
              <a:t> argument is a string value that contains the name of the file that you want to access</a:t>
            </a:r>
            <a:r>
              <a:rPr kumimoji="1" lang="en-US" altLang="zh-CN" dirty="0" smtClean="0"/>
              <a:t>.</a:t>
            </a:r>
          </a:p>
          <a:p>
            <a:r>
              <a:rPr kumimoji="1" lang="en-US" altLang="zh-CN" i="1" dirty="0" err="1"/>
              <a:t>access_mode</a:t>
            </a:r>
            <a:r>
              <a:rPr kumimoji="1" lang="en-US" altLang="zh-CN" dirty="0"/>
              <a:t>: The </a:t>
            </a:r>
            <a:r>
              <a:rPr kumimoji="1" lang="en-US" altLang="zh-CN" dirty="0" err="1"/>
              <a:t>access_mode</a:t>
            </a:r>
            <a:r>
              <a:rPr kumimoji="1" lang="en-US" altLang="zh-CN" dirty="0"/>
              <a:t> determines the mode in which the file has to be opened, i.e., read, write, </a:t>
            </a:r>
            <a:r>
              <a:rPr kumimoji="1" lang="en-US" altLang="zh-CN" dirty="0" smtClean="0"/>
              <a:t>append.</a:t>
            </a:r>
          </a:p>
        </p:txBody>
      </p:sp>
    </p:spTree>
    <p:extLst>
      <p:ext uri="{BB962C8B-B14F-4D97-AF65-F5344CB8AC3E}">
        <p14:creationId xmlns:p14="http://schemas.microsoft.com/office/powerpoint/2010/main" val="207585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zh-CN" dirty="0"/>
              <a:t>The </a:t>
            </a:r>
            <a:r>
              <a:rPr lang="nl-NL" altLang="zh-CN" i="1" dirty="0"/>
              <a:t>open</a:t>
            </a:r>
            <a:r>
              <a:rPr lang="nl-NL" altLang="zh-CN" dirty="0"/>
              <a:t> </a:t>
            </a:r>
            <a:r>
              <a:rPr lang="nl-NL" altLang="zh-CN" dirty="0" err="1"/>
              <a:t>Function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806618"/>
              </p:ext>
            </p:extLst>
          </p:nvPr>
        </p:nvGraphicFramePr>
        <p:xfrm>
          <a:off x="685332" y="2341693"/>
          <a:ext cx="7772870" cy="4073757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875091"/>
                <a:gridCol w="6897779"/>
              </a:tblGrid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800" b="1" i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Modes</a:t>
                      </a:r>
                    </a:p>
                  </a:txBody>
                  <a:tcPr marL="16122" marR="16122" marT="16122" marB="16122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800" b="1" i="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Description</a:t>
                      </a:r>
                    </a:p>
                  </a:txBody>
                  <a:tcPr marL="16122" marR="16122" marT="16122" marB="16122"/>
                </a:tc>
              </a:tr>
              <a:tr h="477573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altLang="zh-CN" sz="1800" b="1" i="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</a:t>
                      </a:r>
                    </a:p>
                  </a:txBody>
                  <a:tcPr marL="16122" marR="16122" marT="16122" marB="16122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sz="1800" b="1" i="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Opens a file for reading only. </a:t>
                      </a:r>
                    </a:p>
                  </a:txBody>
                  <a:tcPr marL="16122" marR="16122" marT="16122" marB="16122"/>
                </a:tc>
              </a:tr>
              <a:tr h="368298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altLang="zh-CN" sz="1800" b="1" i="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r+</a:t>
                      </a:r>
                      <a:endParaRPr lang="mr-IN" sz="1800" b="1" i="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6122" marR="16122" marT="16122" marB="16122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sz="1800" b="1" i="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Opens a file for both reading and writing. </a:t>
                      </a:r>
                    </a:p>
                  </a:txBody>
                  <a:tcPr marL="16122" marR="16122" marT="16122" marB="16122"/>
                </a:tc>
              </a:tr>
              <a:tr h="477573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sz="1800" b="1" i="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w</a:t>
                      </a:r>
                    </a:p>
                  </a:txBody>
                  <a:tcPr marL="16122" marR="16122" marT="16122" marB="16122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sz="1800" b="1" i="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Opens a file for writing only. Overwrites the file if the file exists. If the file does not exist, creates a new file for writing.</a:t>
                      </a:r>
                    </a:p>
                  </a:txBody>
                  <a:tcPr marL="16122" marR="16122" marT="16122" marB="16122"/>
                </a:tc>
              </a:tr>
              <a:tr h="586848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altLang="zh-CN" sz="1800" b="1" i="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w+</a:t>
                      </a:r>
                      <a:endParaRPr lang="mr-IN" sz="1800" b="1" i="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6122" marR="16122" marT="16122" marB="16122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sz="1800" b="1" i="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Opens a file for both writing and reading. Overwrites the existing file if the file exists. If the file does not exist, creates a new file for reading and </a:t>
                      </a:r>
                      <a:r>
                        <a:rPr lang="en-US" sz="1800" b="1" i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writing</a:t>
                      </a:r>
                      <a:r>
                        <a:rPr lang="en-US" sz="1800" b="1" i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.</a:t>
                      </a:r>
                      <a:endParaRPr lang="en-US" sz="1800" b="1" i="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6122" marR="16122" marT="16122" marB="16122"/>
                </a:tc>
              </a:tr>
              <a:tr h="586848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 b="1" i="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a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1" i="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Opens a file for appending. </a:t>
                      </a:r>
                    </a:p>
                  </a:txBody>
                  <a:tcPr marL="50800" marR="50800" marT="50800" marB="508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12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zh-CN" dirty="0"/>
              <a:t>The </a:t>
            </a:r>
            <a:r>
              <a:rPr lang="nl-NL" altLang="zh-CN" i="1" dirty="0"/>
              <a:t>open</a:t>
            </a:r>
            <a:r>
              <a:rPr lang="nl-NL" altLang="zh-CN" dirty="0"/>
              <a:t> </a:t>
            </a:r>
            <a:r>
              <a:rPr lang="nl-NL" altLang="zh-CN" dirty="0" err="1"/>
              <a:t>Function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i="1" dirty="0"/>
              <a:t>buffering</a:t>
            </a:r>
            <a:r>
              <a:rPr lang="en-US" altLang="zh-CN" dirty="0"/>
              <a:t>: If the buffering value is set to 0, no buffering takes place. If the buffering value is 1, line buffering is performed while accessing a file. If you specify the buffering value as an integer greater than 1, then buffering action is performed with the indicated buffer size. If negative, the buffer size is the system </a:t>
            </a:r>
            <a:r>
              <a:rPr lang="en-US" altLang="zh-CN" dirty="0" smtClean="0"/>
              <a:t>default.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7837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 </a:t>
            </a:r>
            <a:r>
              <a:rPr lang="en-US" altLang="zh-CN" i="1" dirty="0"/>
              <a:t>close()</a:t>
            </a:r>
            <a:r>
              <a:rPr lang="en-US" altLang="zh-CN" dirty="0"/>
              <a:t> </a:t>
            </a:r>
            <a:r>
              <a:rPr lang="en-US" altLang="zh-CN" dirty="0" smtClean="0"/>
              <a:t>Method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 dirty="0"/>
              <a:t>The close() method of a file object flushes any unwritten information and closes the file object, after which no more writing can be done</a:t>
            </a:r>
            <a:r>
              <a:rPr kumimoji="1" lang="en-US" altLang="zh-CN" dirty="0" smtClean="0"/>
              <a:t>.</a:t>
            </a:r>
            <a:r>
              <a:rPr kumimoji="1" lang="en-US" altLang="zh-CN" dirty="0"/>
              <a:t/>
            </a:r>
            <a:br>
              <a:rPr kumimoji="1" lang="en-US" altLang="zh-CN" dirty="0"/>
            </a:b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368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zh-CN" dirty="0"/>
              <a:t>The </a:t>
            </a:r>
            <a:r>
              <a:rPr lang="nl-NL" altLang="zh-CN" i="1" dirty="0" err="1"/>
              <a:t>write</a:t>
            </a:r>
            <a:r>
              <a:rPr lang="nl-NL" altLang="zh-CN" i="1" dirty="0"/>
              <a:t>()</a:t>
            </a:r>
            <a:r>
              <a:rPr lang="nl-NL" altLang="zh-CN" dirty="0"/>
              <a:t> </a:t>
            </a:r>
            <a:r>
              <a:rPr lang="nl-NL" altLang="zh-CN" dirty="0" smtClean="0"/>
              <a:t>Method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2" y="2690336"/>
            <a:ext cx="8001468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file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open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'/Users/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linjiang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/Desktop/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foo.txt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'w'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file.write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'Hello 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Python'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file.close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48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zh-CN" dirty="0"/>
              <a:t>The </a:t>
            </a:r>
            <a:r>
              <a:rPr lang="nl-NL" altLang="zh-CN" i="1" dirty="0" err="1"/>
              <a:t>read</a:t>
            </a:r>
            <a:r>
              <a:rPr lang="nl-NL" altLang="zh-CN" i="1" dirty="0"/>
              <a:t>()</a:t>
            </a:r>
            <a:r>
              <a:rPr lang="nl-NL" altLang="zh-CN" dirty="0"/>
              <a:t> </a:t>
            </a:r>
            <a:r>
              <a:rPr lang="nl-NL" altLang="zh-CN" dirty="0" smtClean="0"/>
              <a:t>Method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58800" y="2690336"/>
            <a:ext cx="8191500" cy="14305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file =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open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'/Users/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linjiang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/Desktop/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foo.txt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'r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+'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file.read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file.close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zh-CN" dirty="0"/>
              <a:t>The </a:t>
            </a:r>
            <a:r>
              <a:rPr lang="nl-NL" altLang="zh-CN" i="1" dirty="0" err="1" smtClean="0"/>
              <a:t>read</a:t>
            </a:r>
            <a:r>
              <a:rPr lang="en-US" altLang="zh-CN" i="1" dirty="0" smtClean="0"/>
              <a:t>lines</a:t>
            </a:r>
            <a:r>
              <a:rPr lang="nl-NL" altLang="zh-CN" i="1" dirty="0" smtClean="0"/>
              <a:t>()</a:t>
            </a:r>
            <a:r>
              <a:rPr lang="nl-NL" altLang="zh-CN" dirty="0"/>
              <a:t> Method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 dirty="0" smtClean="0"/>
              <a:t>Return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363886"/>
            <a:ext cx="8191500" cy="24006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file =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open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'/Users/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linjiang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/Desktop/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foo.txt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'r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+'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cxt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file.readlines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line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cxt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(line) 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file.close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71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86385" y="2967335"/>
            <a:ext cx="497123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Questions?</a:t>
            </a:r>
            <a:endParaRPr lang="zh-CN" altLang="en-US" sz="8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648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Tutorial </a:t>
            </a:r>
            <a:r>
              <a:rPr kumimoji="1" lang="en-US" altLang="zh-CN" dirty="0" smtClean="0"/>
              <a:t>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38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Question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1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868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0" dirty="0"/>
              <a:t>Write a program (using functions!) that asks the user for a long string containing multiple words. Print back to the user the same string, except with the words in backwards order. For example, say I type the string:</a:t>
            </a:r>
          </a:p>
          <a:p>
            <a:pPr marL="0" indent="0">
              <a:buNone/>
            </a:pPr>
            <a:r>
              <a:rPr lang="zh-CN" altLang="en-US" sz="2000" dirty="0" smtClean="0"/>
              <a:t>    </a:t>
            </a:r>
            <a:r>
              <a:rPr lang="en-US" altLang="zh-CN" sz="2000" dirty="0" smtClean="0"/>
              <a:t>My </a:t>
            </a:r>
            <a:r>
              <a:rPr lang="en-US" altLang="zh-CN" sz="2000" dirty="0"/>
              <a:t>name is </a:t>
            </a:r>
            <a:r>
              <a:rPr lang="en-US" altLang="zh-CN" sz="2000" dirty="0" smtClean="0"/>
              <a:t>Michele</a:t>
            </a:r>
          </a:p>
          <a:p>
            <a:pPr marL="0" indent="0">
              <a:buNone/>
            </a:pPr>
            <a:r>
              <a:rPr lang="en-US" altLang="zh-CN" sz="2000" b="0" dirty="0" smtClean="0"/>
              <a:t>Then </a:t>
            </a:r>
            <a:r>
              <a:rPr lang="en-US" altLang="zh-CN" sz="2000" b="0" dirty="0"/>
              <a:t>I would see the string:</a:t>
            </a:r>
          </a:p>
          <a:p>
            <a:pPr marL="0" indent="0">
              <a:buNone/>
            </a:pPr>
            <a:r>
              <a:rPr lang="zh-CN" altLang="en-US" sz="2000" dirty="0" smtClean="0"/>
              <a:t>    </a:t>
            </a:r>
            <a:r>
              <a:rPr lang="en-US" altLang="zh-CN" sz="2000" dirty="0" smtClean="0"/>
              <a:t>Michele </a:t>
            </a:r>
            <a:r>
              <a:rPr lang="en-US" altLang="zh-CN" sz="2000" dirty="0"/>
              <a:t>is name </a:t>
            </a:r>
            <a:r>
              <a:rPr lang="en-US" altLang="zh-CN" sz="2000" dirty="0" smtClean="0"/>
              <a:t>My</a:t>
            </a:r>
          </a:p>
          <a:p>
            <a:pPr marL="0" indent="0">
              <a:buNone/>
            </a:pPr>
            <a:r>
              <a:rPr lang="en-US" altLang="zh-CN" sz="2000" b="0" dirty="0" smtClean="0"/>
              <a:t>shown </a:t>
            </a:r>
            <a:r>
              <a:rPr lang="en-US" altLang="zh-CN" sz="2000" b="0" dirty="0"/>
              <a:t>back to me</a:t>
            </a:r>
            <a:r>
              <a:rPr lang="en-US" altLang="zh-CN" sz="2000" b="0" dirty="0" smtClean="0"/>
              <a:t>.</a:t>
            </a:r>
            <a:endParaRPr lang="en-US" altLang="zh-CN" sz="2000" b="0" dirty="0"/>
          </a:p>
        </p:txBody>
      </p:sp>
    </p:spTree>
    <p:extLst>
      <p:ext uri="{BB962C8B-B14F-4D97-AF65-F5344CB8AC3E}">
        <p14:creationId xmlns:p14="http://schemas.microsoft.com/office/powerpoint/2010/main" val="102607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Question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 b="0" dirty="0"/>
              <a:t>Create a program that will play the “cows and bulls” game with the user. The game works like this:</a:t>
            </a:r>
          </a:p>
          <a:p>
            <a:pPr marL="0" indent="0">
              <a:buNone/>
            </a:pPr>
            <a:r>
              <a:rPr lang="en-US" altLang="zh-CN" sz="1800" b="0" dirty="0"/>
              <a:t>Randomly generate a 4-digit number. Ask the user to guess a 4-digit number. For every digit that the user guessed correctly </a:t>
            </a:r>
            <a:r>
              <a:rPr lang="en-US" altLang="zh-CN" sz="1800" b="0" i="1" dirty="0"/>
              <a:t>in the correct place</a:t>
            </a:r>
            <a:r>
              <a:rPr lang="en-US" altLang="zh-CN" sz="1800" b="0" dirty="0"/>
              <a:t>, they have a “cow”. For every digit the user guessed correctly </a:t>
            </a:r>
            <a:r>
              <a:rPr lang="en-US" altLang="zh-CN" sz="1800" b="0" i="1" dirty="0"/>
              <a:t>in the wrong place</a:t>
            </a:r>
            <a:r>
              <a:rPr lang="en-US" altLang="zh-CN" sz="1800" b="0" dirty="0"/>
              <a:t> is a “bull.” Every time the user makes a guess, tell them how many “cows” and “bulls” they have. Once the user guesses the correct number, the game is </a:t>
            </a:r>
            <a:r>
              <a:rPr lang="en-US" altLang="zh-CN" sz="1800" b="0" dirty="0" smtClean="0"/>
              <a:t>over.</a:t>
            </a:r>
            <a:endParaRPr lang="en-US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40172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12270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0" dirty="0"/>
              <a:t>Say the number generated by the computer is 1038. An </a:t>
            </a:r>
            <a:r>
              <a:rPr lang="en-US" altLang="zh-CN" b="0" dirty="0" smtClean="0"/>
              <a:t>example </a:t>
            </a:r>
            <a:r>
              <a:rPr lang="en-US" altLang="zh-CN" b="0" dirty="0"/>
              <a:t>interaction could look like this</a:t>
            </a:r>
            <a:r>
              <a:rPr lang="en-US" altLang="zh-CN" b="0" dirty="0" smtClean="0"/>
              <a:t>:</a:t>
            </a:r>
          </a:p>
          <a:p>
            <a:pPr marL="0" indent="0">
              <a:buNone/>
            </a:pPr>
            <a:endParaRPr lang="en-US" altLang="zh-CN" b="0" dirty="0"/>
          </a:p>
        </p:txBody>
      </p:sp>
      <p:sp>
        <p:nvSpPr>
          <p:cNvPr id="4" name="矩形 3"/>
          <p:cNvSpPr/>
          <p:nvPr/>
        </p:nvSpPr>
        <p:spPr>
          <a:xfrm>
            <a:off x="1511300" y="3594100"/>
            <a:ext cx="566420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Welcome to the Cows and Bulls Game! 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Enter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a number: 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1234 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2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cows, 0 bulls 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1256 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1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cow, 1 bull ...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89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水滴">
  <a:themeElements>
    <a:clrScheme name="水滴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5040</TotalTime>
  <Words>1235</Words>
  <Application>Microsoft Macintosh PowerPoint</Application>
  <PresentationFormat>全屏显示(4:3)</PresentationFormat>
  <Paragraphs>223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2" baseType="lpstr">
      <vt:lpstr>Courier</vt:lpstr>
      <vt:lpstr>DengXian</vt:lpstr>
      <vt:lpstr>Times New Roman</vt:lpstr>
      <vt:lpstr>Tw Cen MT</vt:lpstr>
      <vt:lpstr>宋体</vt:lpstr>
      <vt:lpstr>Arial</vt:lpstr>
      <vt:lpstr>水滴</vt:lpstr>
      <vt:lpstr>Python Function</vt:lpstr>
      <vt:lpstr>Philosophy</vt:lpstr>
      <vt:lpstr>Defining a function</vt:lpstr>
      <vt:lpstr>Example</vt:lpstr>
      <vt:lpstr>The return statement</vt:lpstr>
      <vt:lpstr>The return statement</vt:lpstr>
      <vt:lpstr>Function Arguments</vt:lpstr>
      <vt:lpstr>Required arguments</vt:lpstr>
      <vt:lpstr>Keyword arguments</vt:lpstr>
      <vt:lpstr>Default arguments</vt:lpstr>
      <vt:lpstr>Variable-length arguments</vt:lpstr>
      <vt:lpstr>Example</vt:lpstr>
      <vt:lpstr>Example</vt:lpstr>
      <vt:lpstr>Python Classes/instances</vt:lpstr>
      <vt:lpstr>Philosophy</vt:lpstr>
      <vt:lpstr>Creating a class</vt:lpstr>
      <vt:lpstr>Creating instances</vt:lpstr>
      <vt:lpstr>Creating a class</vt:lpstr>
      <vt:lpstr>Create a function in class</vt:lpstr>
      <vt:lpstr>Creating a class</vt:lpstr>
      <vt:lpstr>Creating instances</vt:lpstr>
      <vt:lpstr>Creating a class</vt:lpstr>
      <vt:lpstr>Python Modules</vt:lpstr>
      <vt:lpstr>Philosophy</vt:lpstr>
      <vt:lpstr>Creating a module</vt:lpstr>
      <vt:lpstr>The import statement</vt:lpstr>
      <vt:lpstr>The from … import statement</vt:lpstr>
      <vt:lpstr>The dir() function</vt:lpstr>
      <vt:lpstr>Build-in modules</vt:lpstr>
      <vt:lpstr>Build-in modules</vt:lpstr>
      <vt:lpstr>Python file I/O</vt:lpstr>
      <vt:lpstr>File I/O</vt:lpstr>
      <vt:lpstr>The open Function</vt:lpstr>
      <vt:lpstr>The open Function</vt:lpstr>
      <vt:lpstr>The open Function</vt:lpstr>
      <vt:lpstr>The open Function</vt:lpstr>
      <vt:lpstr>The close() Method</vt:lpstr>
      <vt:lpstr>The write() Method</vt:lpstr>
      <vt:lpstr>The read() Method</vt:lpstr>
      <vt:lpstr>The readlines() Method</vt:lpstr>
      <vt:lpstr>PowerPoint 演示文稿</vt:lpstr>
      <vt:lpstr>Tutorial 2</vt:lpstr>
      <vt:lpstr>Question 1</vt:lpstr>
      <vt:lpstr>Question 2</vt:lpstr>
      <vt:lpstr>Question 2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introduction</dc:title>
  <dc:creator>Jacqueline Jiang</dc:creator>
  <cp:lastModifiedBy>Jacqueline Jiang</cp:lastModifiedBy>
  <cp:revision>650</cp:revision>
  <dcterms:created xsi:type="dcterms:W3CDTF">2017-05-27T08:15:31Z</dcterms:created>
  <dcterms:modified xsi:type="dcterms:W3CDTF">2017-10-09T10:08:07Z</dcterms:modified>
</cp:coreProperties>
</file>